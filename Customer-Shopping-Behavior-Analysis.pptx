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7772400" cy="10058400"/>
  <p:notesSz cx="10058400" cy="7772400"/>
  <p:embeddedFontLst>
    <p:embeddedFont>
      <p:font typeface="Bricolage Grotesque Bold" panose="020B0604020202020204" charset="0"/>
      <p:regular r:id="rId12"/>
    </p:embeddedFont>
    <p:embeddedFont>
      <p:font typeface="Rethink Sans" panose="020B0604020202020204" charset="0"/>
      <p:regular r:id="rId13"/>
    </p:embeddedFont>
    <p:embeddedFont>
      <p:font typeface="Rethink Sans Bold" panose="020B0604020202020204" charset="0"/>
      <p:regular r:id="rId14"/>
    </p:embeddedFont>
    <p:embeddedFont>
      <p:font typeface="Rethink Sans Medium" panose="020B0604020202020204" charset="0"/>
      <p:regular r:id="rId15"/>
    </p:embeddedFont>
    <p:embeddedFont>
      <p:font typeface="Rethink Sans Semi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241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1643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580" y="97593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69"/>
            <a:ext cx="7772337" cy="5868328"/>
          </a:xfrm>
          <a:prstGeom prst="rect">
            <a:avLst/>
          </a:prstGeom>
          <a:solidFill>
            <a:srgbClr val="C4461A"/>
          </a:solidFill>
          <a:ln/>
        </p:spPr>
      </p:sp>
      <p:sp>
        <p:nvSpPr>
          <p:cNvPr id="3" name="Text 1"/>
          <p:cNvSpPr/>
          <p:nvPr/>
        </p:nvSpPr>
        <p:spPr>
          <a:xfrm>
            <a:off x="507976" y="538132"/>
            <a:ext cx="7145004" cy="173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100" spc="21" dirty="0">
                <a:solidFill>
                  <a:srgbClr val="FFFFFF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CUSTOMER SHOPPING BEHAVIOR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7976" y="1115026"/>
            <a:ext cx="6756384" cy="365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200" b="1" kern="100" spc="-180" dirty="0">
                <a:solidFill>
                  <a:srgbClr val="FFFFF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Customer</a:t>
            </a:r>
            <a:endParaRPr lang="en-US" sz="7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7200" b="1" kern="100" spc="-180" dirty="0">
                <a:solidFill>
                  <a:srgbClr val="FFFFF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Shopping</a:t>
            </a:r>
            <a:endParaRPr lang="en-US" sz="7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7200" b="1" kern="100" spc="-180" dirty="0">
                <a:solidFill>
                  <a:srgbClr val="FFFFF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Behavior</a:t>
            </a:r>
            <a:endParaRPr lang="en-US" sz="7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7200" b="1" kern="100" spc="-180" dirty="0">
                <a:solidFill>
                  <a:srgbClr val="FFFFFF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Analysis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07976" y="4897462"/>
            <a:ext cx="6756384" cy="514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A data-led report on purchase patterns, customer segments, product preferences, and subscription behavior.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7976" y="6388988"/>
            <a:ext cx="107845" cy="48445"/>
          </a:xfrm>
          <a:prstGeom prst="roundRect">
            <a:avLst>
              <a:gd name="adj" fmla="val 50006"/>
            </a:avLst>
          </a:prstGeom>
          <a:solidFill>
            <a:srgbClr val="C4461A"/>
          </a:solidFill>
          <a:ln/>
        </p:spPr>
      </p:sp>
      <p:sp>
        <p:nvSpPr>
          <p:cNvPr id="7" name="Text 5"/>
          <p:cNvSpPr/>
          <p:nvPr/>
        </p:nvSpPr>
        <p:spPr>
          <a:xfrm>
            <a:off x="507976" y="6815841"/>
            <a:ext cx="7145004" cy="173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100" spc="21" dirty="0">
                <a:solidFill>
                  <a:srgbClr val="675F5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REPORT VIEW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976" y="7064154"/>
            <a:ext cx="6756384" cy="582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675F5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Purchase patterns, customer value, and the path from loyalty to durable growth.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7976" y="9338808"/>
            <a:ext cx="7145004" cy="186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675F5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Customer Shopping Behavior Analysis</a:t>
            </a:r>
            <a:endParaRPr lang="en-US" sz="10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FC2512-758D-EA3C-DC10-28DC50680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502" y="9432125"/>
            <a:ext cx="2133898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76" y="546084"/>
            <a:ext cx="107845" cy="48445"/>
          </a:xfrm>
          <a:prstGeom prst="roundRect">
            <a:avLst>
              <a:gd name="adj" fmla="val 50006"/>
            </a:avLst>
          </a:prstGeom>
          <a:solidFill>
            <a:srgbClr val="C4461A"/>
          </a:solidFill>
          <a:ln/>
        </p:spPr>
      </p:sp>
      <p:sp>
        <p:nvSpPr>
          <p:cNvPr id="3" name="Text 1"/>
          <p:cNvSpPr/>
          <p:nvPr/>
        </p:nvSpPr>
        <p:spPr>
          <a:xfrm>
            <a:off x="507976" y="979310"/>
            <a:ext cx="6756384" cy="62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200" b="1" kern="100" spc="-33" dirty="0">
                <a:solidFill>
                  <a:srgbClr val="1F1B17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Executive summary: the business is broad, but loyalty is the strongest signal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76" y="1827718"/>
            <a:ext cx="1935510" cy="482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b="1" kern="100" spc="-95" dirty="0">
                <a:solidFill>
                  <a:srgbClr val="C4461A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3,900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8234" y="1795496"/>
            <a:ext cx="4516126" cy="173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100" spc="21" dirty="0">
                <a:solidFill>
                  <a:srgbClr val="675F5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Scale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8234" y="2078782"/>
            <a:ext cx="4516126" cy="228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Purchases across four product categories and 25 items.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76" y="3843509"/>
            <a:ext cx="1935510" cy="482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b="1" kern="100" spc="-95" dirty="0">
                <a:solidFill>
                  <a:srgbClr val="0E6F74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$59.76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748234" y="3811286"/>
            <a:ext cx="4516126" cy="173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100" spc="21" dirty="0">
                <a:solidFill>
                  <a:srgbClr val="675F5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Commercial baseline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8234" y="4094573"/>
            <a:ext cx="4516126" cy="228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Average purchase amount; average review rating is </a:t>
            </a:r>
            <a:r>
              <a:rPr lang="en-US" sz="1200" b="1" dirty="0">
                <a:solidFill>
                  <a:srgbClr val="1F1B1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3.75</a:t>
            </a: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976" y="5859363"/>
            <a:ext cx="1935510" cy="482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b="1" kern="100" spc="-95" dirty="0">
                <a:solidFill>
                  <a:srgbClr val="C4461A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$157,890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748234" y="5827141"/>
            <a:ext cx="4516126" cy="173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100" spc="21" dirty="0">
                <a:solidFill>
                  <a:srgbClr val="675F5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Largest revenue engine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8234" y="6110427"/>
            <a:ext cx="4516126" cy="45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Male customers contribute $157,890 versus $75,191 from female customers.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976" y="7875217"/>
            <a:ext cx="1935510" cy="482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b="1" kern="100" spc="-95" dirty="0">
                <a:solidFill>
                  <a:srgbClr val="C27A0A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73%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748234" y="7842995"/>
            <a:ext cx="4516126" cy="173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100" spc="21" dirty="0">
                <a:solidFill>
                  <a:srgbClr val="675F5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Growth opportunity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8234" y="8126282"/>
            <a:ext cx="4516126" cy="45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Of customers are non-subscribers; loyal customers account for 3,116 of the 3,900 records.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1596" y="9708532"/>
            <a:ext cx="2703831" cy="1904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2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33370" y="9708532"/>
            <a:ext cx="339030" cy="1904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2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02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2632962-31C6-0667-A032-AE8959626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502" y="9432125"/>
            <a:ext cx="2133898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76" y="2094562"/>
            <a:ext cx="107845" cy="48445"/>
          </a:xfrm>
          <a:prstGeom prst="roundRect">
            <a:avLst>
              <a:gd name="adj" fmla="val 50006"/>
            </a:avLst>
          </a:prstGeom>
          <a:solidFill>
            <a:srgbClr val="C4461A"/>
          </a:solidFill>
          <a:ln/>
        </p:spPr>
      </p:sp>
      <p:sp>
        <p:nvSpPr>
          <p:cNvPr id="3" name="Text 1"/>
          <p:cNvSpPr/>
          <p:nvPr/>
        </p:nvSpPr>
        <p:spPr>
          <a:xfrm>
            <a:off x="507976" y="2527788"/>
            <a:ext cx="6756384" cy="62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200" b="1" kern="100" spc="-33" dirty="0">
                <a:solidFill>
                  <a:srgbClr val="1F1B17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What the dataset contains—and how it was prepared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76" y="3339687"/>
            <a:ext cx="6756384" cy="514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The analysis starts with transactional data broad enough to connect customer profile, purchase context, and product economics.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7976" y="4031708"/>
            <a:ext cx="2252086" cy="3026880"/>
          </a:xfrm>
          <a:custGeom>
            <a:avLst/>
            <a:gdLst/>
            <a:ahLst/>
            <a:cxnLst/>
            <a:rect l="l" t="t" r="r" b="b"/>
            <a:pathLst>
              <a:path w="2252086" h="3026880">
                <a:moveTo>
                  <a:pt x="127000" y="0"/>
                </a:moveTo>
                <a:lnTo>
                  <a:pt x="2252086" y="0"/>
                </a:lnTo>
                <a:lnTo>
                  <a:pt x="2252086" y="3026880"/>
                </a:lnTo>
                <a:lnTo>
                  <a:pt x="127000" y="3026880"/>
                </a:lnTo>
                <a:arcTo wR="127000" hR="126985" stAng="5400000" swAng="5400000"/>
                <a:lnTo>
                  <a:pt x="0" y="126985"/>
                </a:lnTo>
                <a:arcTo wR="127000" hR="126985" stAng="10800000" swAng="5400000"/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11142" y="4260274"/>
            <a:ext cx="271161" cy="271129"/>
          </a:xfrm>
          <a:prstGeom prst="ellipse">
            <a:avLst/>
          </a:prstGeom>
          <a:solidFill>
            <a:srgbClr val="C4461A"/>
          </a:solidFill>
          <a:ln w="8096">
            <a:solidFill>
              <a:srgbClr val="DFC2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7316" y="4319660"/>
            <a:ext cx="567433" cy="152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1142" y="4610711"/>
            <a:ext cx="1845755" cy="24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F1B1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Capture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1142" y="5002005"/>
            <a:ext cx="1845755" cy="1828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Demographics, products, purchase amounts, season, size, color, discount behavior, subscription status, shipping, payment method, ratings, and purchase frequency.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60062" y="4031708"/>
            <a:ext cx="2252149" cy="3026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2963228" y="4260274"/>
            <a:ext cx="271161" cy="271129"/>
          </a:xfrm>
          <a:prstGeom prst="ellipse">
            <a:avLst/>
          </a:prstGeom>
          <a:solidFill>
            <a:srgbClr val="C4461A"/>
          </a:solidFill>
          <a:ln w="8096">
            <a:solidFill>
              <a:srgbClr val="DFC2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09401" y="4319660"/>
            <a:ext cx="567433" cy="152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63228" y="4610711"/>
            <a:ext cx="1845818" cy="24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F1B1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Clean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963228" y="5002005"/>
            <a:ext cx="1845818" cy="1371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F1B1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18 columns</a:t>
            </a: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 were standardized. </a:t>
            </a:r>
            <a:r>
              <a:rPr lang="en-US" sz="1200" b="1" dirty="0">
                <a:solidFill>
                  <a:srgbClr val="1F1B1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37 review ratings</a:t>
            </a: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 were missing and imputed using the median rating within each product category.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12211" y="4031708"/>
            <a:ext cx="2252149" cy="3026880"/>
          </a:xfrm>
          <a:custGeom>
            <a:avLst/>
            <a:gdLst/>
            <a:ahLst/>
            <a:cxnLst/>
            <a:rect l="l" t="t" r="r" b="b"/>
            <a:pathLst>
              <a:path w="2252149" h="3026880">
                <a:moveTo>
                  <a:pt x="0" y="0"/>
                </a:moveTo>
                <a:lnTo>
                  <a:pt x="2125149" y="0"/>
                </a:lnTo>
                <a:arcTo wR="127000" hR="126985" stAng="16200000" swAng="5400000"/>
                <a:lnTo>
                  <a:pt x="2252149" y="2899896"/>
                </a:lnTo>
                <a:arcTo wR="127000" hR="126985" stAng="0" swAng="5400000"/>
                <a:lnTo>
                  <a:pt x="0" y="30268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215377" y="4260274"/>
            <a:ext cx="271161" cy="271129"/>
          </a:xfrm>
          <a:prstGeom prst="ellipse">
            <a:avLst/>
          </a:prstGeom>
          <a:solidFill>
            <a:srgbClr val="C4461A"/>
          </a:solidFill>
          <a:ln w="8096">
            <a:solidFill>
              <a:srgbClr val="DFC2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61550" y="4319660"/>
            <a:ext cx="567433" cy="152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5377" y="4610711"/>
            <a:ext cx="1845818" cy="24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F1B1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Prepare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215377" y="5002005"/>
            <a:ext cx="1845818" cy="1599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Snake_case standardization, age-group and purchase-frequency features, and a redundancy check between discount and promo-code fields.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7976" y="7287154"/>
            <a:ext cx="6756384" cy="663434"/>
          </a:xfrm>
          <a:prstGeom prst="rect">
            <a:avLst/>
          </a:prstGeom>
          <a:solidFill>
            <a:srgbClr val="C4461A"/>
          </a:solidFill>
          <a:ln/>
        </p:spPr>
      </p:sp>
      <p:sp>
        <p:nvSpPr>
          <p:cNvPr id="21" name="Text 19"/>
          <p:cNvSpPr/>
          <p:nvPr/>
        </p:nvSpPr>
        <p:spPr>
          <a:xfrm>
            <a:off x="761933" y="7490295"/>
            <a:ext cx="6502427" cy="257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Analysis layer:</a:t>
            </a:r>
            <a:r>
              <a:rPr lang="en-US" sz="1350" dirty="0">
                <a:solidFill>
                  <a:srgbClr val="FFFFFF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 the cleaned data was loaded into PostgreSQL for SQL analysis.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2758038" y="4031708"/>
            <a:ext cx="4048" cy="3026880"/>
          </a:xfrm>
          <a:prstGeom prst="rect">
            <a:avLst/>
          </a:prstGeom>
          <a:solidFill>
            <a:srgbClr val="E3DACD"/>
          </a:solidFill>
          <a:ln/>
        </p:spPr>
      </p:sp>
      <p:sp>
        <p:nvSpPr>
          <p:cNvPr id="23" name="Shape 21"/>
          <p:cNvSpPr/>
          <p:nvPr/>
        </p:nvSpPr>
        <p:spPr>
          <a:xfrm>
            <a:off x="5010187" y="4031708"/>
            <a:ext cx="4048" cy="3026880"/>
          </a:xfrm>
          <a:prstGeom prst="rect">
            <a:avLst/>
          </a:prstGeom>
          <a:solidFill>
            <a:srgbClr val="E3DACD"/>
          </a:solidFill>
          <a:ln/>
        </p:spPr>
      </p:sp>
      <p:sp>
        <p:nvSpPr>
          <p:cNvPr id="24" name="Text 22"/>
          <p:cNvSpPr/>
          <p:nvPr/>
        </p:nvSpPr>
        <p:spPr>
          <a:xfrm>
            <a:off x="181596" y="9708532"/>
            <a:ext cx="2703831" cy="1904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2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33370" y="9708532"/>
            <a:ext cx="339030" cy="1904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2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03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CACDC5C-03BA-55FB-D3DE-A85CF1542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502" y="9432125"/>
            <a:ext cx="2133898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76" y="546084"/>
            <a:ext cx="107845" cy="48445"/>
          </a:xfrm>
          <a:prstGeom prst="roundRect">
            <a:avLst>
              <a:gd name="adj" fmla="val 50006"/>
            </a:avLst>
          </a:prstGeom>
          <a:solidFill>
            <a:srgbClr val="C4461A"/>
          </a:solidFill>
          <a:ln/>
        </p:spPr>
      </p:sp>
      <p:sp>
        <p:nvSpPr>
          <p:cNvPr id="3" name="Text 1"/>
          <p:cNvSpPr/>
          <p:nvPr/>
        </p:nvSpPr>
        <p:spPr>
          <a:xfrm>
            <a:off x="507976" y="979310"/>
            <a:ext cx="6756384" cy="312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200" b="1" kern="100" spc="-33" dirty="0">
                <a:solidFill>
                  <a:srgbClr val="1F1B17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Clothing leads the category economics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76" y="1478339"/>
            <a:ext cx="6756384" cy="514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Clothing generates roughly $100K in revenue and about 1,700 sales, ahead of accessories, footwear, and outerwear in the dashboard readout.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7976" y="2170360"/>
            <a:ext cx="6756384" cy="55841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61933" y="2398926"/>
            <a:ext cx="6248471" cy="24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F1B1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Revenue and sales by category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33" y="2761696"/>
            <a:ext cx="6248471" cy="44983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1933" y="7340283"/>
            <a:ext cx="6502427" cy="186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1F1B1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Clothing is the largest category by both revenue and sales, with accessories second.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81596" y="9708532"/>
            <a:ext cx="2703831" cy="1904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2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33370" y="9708532"/>
            <a:ext cx="339030" cy="1904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2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04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BFA349-B472-D630-8164-C889E7A62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502" y="9432125"/>
            <a:ext cx="2133898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76" y="546084"/>
            <a:ext cx="107845" cy="48445"/>
          </a:xfrm>
          <a:prstGeom prst="roundRect">
            <a:avLst>
              <a:gd name="adj" fmla="val 50006"/>
            </a:avLst>
          </a:prstGeom>
          <a:solidFill>
            <a:srgbClr val="C4461A"/>
          </a:solidFill>
          <a:ln/>
        </p:spPr>
      </p:sp>
      <p:sp>
        <p:nvSpPr>
          <p:cNvPr id="3" name="Text 1"/>
          <p:cNvSpPr/>
          <p:nvPr/>
        </p:nvSpPr>
        <p:spPr>
          <a:xfrm>
            <a:off x="507976" y="979310"/>
            <a:ext cx="6756384" cy="62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200" b="1" kern="100" spc="-33" dirty="0">
                <a:solidFill>
                  <a:srgbClr val="1F1B17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Product demand is concentrated in familiar wardrobe staples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7976" y="1791210"/>
            <a:ext cx="3225786" cy="245281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33" y="2019775"/>
            <a:ext cx="304748" cy="3047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1933" y="2438770"/>
            <a:ext cx="2717873" cy="291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1F1B1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Top products by category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61933" y="2872943"/>
            <a:ext cx="2717873" cy="1142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Jewelry, sunglasses, and belts lead accessories. Blouses, pants, and shirts lead clothing. Sandals, shoes, and sneakers lead footwear. Jackets and coats lead outerwear.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038511" y="1791210"/>
            <a:ext cx="3225850" cy="245281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467" y="2019775"/>
            <a:ext cx="304748" cy="3047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92467" y="2438770"/>
            <a:ext cx="2717936" cy="291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1F1B1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Top-rated products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292467" y="2872943"/>
            <a:ext cx="2717936" cy="685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Gloves score </a:t>
            </a:r>
            <a:r>
              <a:rPr lang="en-US" sz="1200" b="1" dirty="0">
                <a:solidFill>
                  <a:srgbClr val="1F1B1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3.86</a:t>
            </a: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, sandals </a:t>
            </a:r>
            <a:r>
              <a:rPr lang="en-US" sz="1200" b="1" dirty="0">
                <a:solidFill>
                  <a:srgbClr val="1F1B1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3.84</a:t>
            </a: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, boots </a:t>
            </a:r>
            <a:r>
              <a:rPr lang="en-US" sz="1200" b="1" dirty="0">
                <a:solidFill>
                  <a:srgbClr val="1F1B1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3.82</a:t>
            </a: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, hats </a:t>
            </a:r>
            <a:r>
              <a:rPr lang="en-US" sz="1200" b="1" dirty="0">
                <a:solidFill>
                  <a:srgbClr val="1F1B1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3.80</a:t>
            </a: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, and skirts </a:t>
            </a:r>
            <a:r>
              <a:rPr lang="en-US" sz="1200" b="1" dirty="0">
                <a:solidFill>
                  <a:srgbClr val="1F1B1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3.78</a:t>
            </a: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 on average.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7976" y="4548732"/>
            <a:ext cx="3225786" cy="222430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33" y="4777297"/>
            <a:ext cx="304748" cy="3047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1933" y="5196292"/>
            <a:ext cx="2717873" cy="291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1F1B1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Discount dependence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61933" y="5630465"/>
            <a:ext cx="2717873" cy="91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Hats have the highest discounted-purchase rate at </a:t>
            </a:r>
            <a:r>
              <a:rPr lang="en-US" sz="1200" b="1" dirty="0">
                <a:solidFill>
                  <a:srgbClr val="1F1B1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50.00%</a:t>
            </a: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, followed by sneakers at </a:t>
            </a:r>
            <a:r>
              <a:rPr lang="en-US" sz="1200" b="1" dirty="0">
                <a:solidFill>
                  <a:srgbClr val="1F1B1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49.66%</a:t>
            </a: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 and coats at </a:t>
            </a:r>
            <a:r>
              <a:rPr lang="en-US" sz="1200" b="1" dirty="0">
                <a:solidFill>
                  <a:srgbClr val="1F1B1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49.07%</a:t>
            </a: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038511" y="4548732"/>
            <a:ext cx="3225850" cy="222430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2467" y="4777297"/>
            <a:ext cx="304748" cy="3047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292467" y="5196292"/>
            <a:ext cx="2717936" cy="291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1F1B1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Commercial read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4292467" y="5630465"/>
            <a:ext cx="2717936" cy="91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Demand is concentrated in recognizable wardrobe staples, while discount dependence varies materially by product.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81596" y="9708532"/>
            <a:ext cx="2703831" cy="1904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2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7433370" y="9708532"/>
            <a:ext cx="339030" cy="1904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2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05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32B0509-F923-5BF4-AEB1-A8F8A04869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8502" y="9432125"/>
            <a:ext cx="2133898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76" y="1505250"/>
            <a:ext cx="107845" cy="48445"/>
          </a:xfrm>
          <a:prstGeom prst="roundRect">
            <a:avLst>
              <a:gd name="adj" fmla="val 50006"/>
            </a:avLst>
          </a:prstGeom>
          <a:solidFill>
            <a:srgbClr val="C4461A"/>
          </a:solidFill>
          <a:ln/>
        </p:spPr>
      </p:sp>
      <p:sp>
        <p:nvSpPr>
          <p:cNvPr id="3" name="Text 1"/>
          <p:cNvSpPr/>
          <p:nvPr/>
        </p:nvSpPr>
        <p:spPr>
          <a:xfrm>
            <a:off x="507976" y="1938476"/>
            <a:ext cx="6756384" cy="62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200" b="1" kern="100" spc="-33" dirty="0">
                <a:solidFill>
                  <a:srgbClr val="1F1B17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Customer value is strongest among loyal buyers, not subscribers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76" y="2750375"/>
            <a:ext cx="6756384" cy="514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Subscription growth should focus on converting existing repeat behavior into a paid or recurring relationship, not only on increasing basket size.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7976" y="3442396"/>
            <a:ext cx="4086013" cy="51482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61933" y="3670962"/>
            <a:ext cx="3578100" cy="24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F1B1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Customer segments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33" y="4033732"/>
            <a:ext cx="3578100" cy="387581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1933" y="7989804"/>
            <a:ext cx="3578100" cy="373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1F1B1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The customer base is dominated by loyal buyers, while new customers are a small minority.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98674" y="3442396"/>
            <a:ext cx="8096" cy="5148289"/>
          </a:xfrm>
          <a:prstGeom prst="rect">
            <a:avLst/>
          </a:prstGeom>
          <a:solidFill>
            <a:srgbClr val="C4461A"/>
          </a:solidFill>
          <a:ln/>
        </p:spPr>
      </p:sp>
      <p:sp>
        <p:nvSpPr>
          <p:cNvPr id="10" name="Text 7"/>
          <p:cNvSpPr/>
          <p:nvPr/>
        </p:nvSpPr>
        <p:spPr>
          <a:xfrm>
            <a:off x="5084508" y="3670962"/>
            <a:ext cx="1951260" cy="24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675F5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Repeat buyers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084508" y="4062255"/>
            <a:ext cx="1951260" cy="685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F1B1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958</a:t>
            </a: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 subscribers and </a:t>
            </a:r>
            <a:r>
              <a:rPr lang="en-US" sz="1200" b="1" dirty="0">
                <a:solidFill>
                  <a:srgbClr val="1F1B1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2,518</a:t>
            </a: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 non-subscribers have more than five purchases.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84508" y="4925479"/>
            <a:ext cx="1951260" cy="24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675F5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Revenue split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084508" y="5316773"/>
            <a:ext cx="1951260" cy="685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Subscribers contribute </a:t>
            </a:r>
            <a:r>
              <a:rPr lang="en-US" sz="1200" b="1" dirty="0">
                <a:solidFill>
                  <a:srgbClr val="1F1B1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$62,645</a:t>
            </a: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 versus </a:t>
            </a:r>
            <a:r>
              <a:rPr lang="en-US" sz="1200" b="1" dirty="0">
                <a:solidFill>
                  <a:srgbClr val="1F1B1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$170,436</a:t>
            </a: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 from non-subscribers.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84508" y="6179996"/>
            <a:ext cx="1951260" cy="24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675F5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Average spend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084508" y="6571290"/>
            <a:ext cx="1951260" cy="45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Nearly flat at </a:t>
            </a:r>
            <a:r>
              <a:rPr lang="en-US" sz="1200" b="1" dirty="0">
                <a:solidFill>
                  <a:srgbClr val="1F1B1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$59.49</a:t>
            </a: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 versus </a:t>
            </a:r>
            <a:r>
              <a:rPr lang="en-US" sz="1200" b="1" dirty="0">
                <a:solidFill>
                  <a:srgbClr val="1F1B1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$59.87</a:t>
            </a: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81596" y="9708532"/>
            <a:ext cx="2703831" cy="1904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2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33370" y="9708532"/>
            <a:ext cx="339030" cy="1904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2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06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C75A64D-7F64-3B36-3143-83EE06FAB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502" y="9432125"/>
            <a:ext cx="2133898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76" y="546084"/>
            <a:ext cx="107845" cy="48445"/>
          </a:xfrm>
          <a:prstGeom prst="roundRect">
            <a:avLst>
              <a:gd name="adj" fmla="val 50006"/>
            </a:avLst>
          </a:prstGeom>
          <a:solidFill>
            <a:srgbClr val="C4461A"/>
          </a:solidFill>
          <a:ln/>
        </p:spPr>
      </p:sp>
      <p:sp>
        <p:nvSpPr>
          <p:cNvPr id="3" name="Text 1"/>
          <p:cNvSpPr/>
          <p:nvPr/>
        </p:nvSpPr>
        <p:spPr>
          <a:xfrm>
            <a:off x="507976" y="979310"/>
            <a:ext cx="6756384" cy="62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200" b="1" kern="100" spc="-33" dirty="0">
                <a:solidFill>
                  <a:srgbClr val="1F1B17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Young adults are the largest age-based revenue pool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7976" y="1791210"/>
            <a:ext cx="6756384" cy="50843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61933" y="2019775"/>
            <a:ext cx="6248471" cy="24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F1B1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Revenue by age group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33" y="2382546"/>
            <a:ext cx="6248471" cy="39985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1933" y="6461311"/>
            <a:ext cx="6502427" cy="186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1F1B1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Young adults contribute the highest revenue, with the other age groups forming a relatively close tier.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7976" y="7458043"/>
            <a:ext cx="3225786" cy="66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b="1" kern="100" spc="-130" dirty="0">
                <a:solidFill>
                  <a:srgbClr val="C4461A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$62,143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507976" y="8266941"/>
            <a:ext cx="3225786" cy="186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675F5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Young-adult revenue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038511" y="7408836"/>
            <a:ext cx="3225850" cy="24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675F5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Shipping signal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038511" y="7800130"/>
            <a:ext cx="3225850" cy="45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Express-shipping orders average </a:t>
            </a:r>
            <a:r>
              <a:rPr lang="en-US" sz="1200" b="1" dirty="0">
                <a:solidFill>
                  <a:srgbClr val="1F1B1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$60.48</a:t>
            </a: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 versus </a:t>
            </a:r>
            <a:r>
              <a:rPr lang="en-US" sz="1200" b="1" dirty="0">
                <a:solidFill>
                  <a:srgbClr val="1F1B1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$58.46</a:t>
            </a: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 for standard shipping.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038511" y="8408826"/>
            <a:ext cx="3225786" cy="20112"/>
          </a:xfrm>
          <a:prstGeom prst="roundRect">
            <a:avLst>
              <a:gd name="adj" fmla="val 50005"/>
            </a:avLst>
          </a:prstGeom>
          <a:solidFill>
            <a:srgbClr val="C4461A"/>
          </a:solidFill>
          <a:ln/>
        </p:spPr>
      </p:sp>
      <p:sp>
        <p:nvSpPr>
          <p:cNvPr id="13" name="Text 10"/>
          <p:cNvSpPr/>
          <p:nvPr/>
        </p:nvSpPr>
        <p:spPr>
          <a:xfrm>
            <a:off x="4038511" y="8580883"/>
            <a:ext cx="3225850" cy="685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Value targeting can combine the largest age-based revenue pool with customers who select express shipping.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81596" y="9708532"/>
            <a:ext cx="2703831" cy="1904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2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433370" y="9708532"/>
            <a:ext cx="339030" cy="1904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2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07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6A9991-0729-ADCD-9D9D-6B8645F1A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502" y="9432125"/>
            <a:ext cx="2133898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76" y="1869854"/>
            <a:ext cx="107845" cy="48445"/>
          </a:xfrm>
          <a:prstGeom prst="roundRect">
            <a:avLst>
              <a:gd name="adj" fmla="val 50006"/>
            </a:avLst>
          </a:prstGeom>
          <a:solidFill>
            <a:srgbClr val="C4461A"/>
          </a:solidFill>
          <a:ln/>
        </p:spPr>
      </p:sp>
      <p:sp>
        <p:nvSpPr>
          <p:cNvPr id="3" name="Text 1"/>
          <p:cNvSpPr/>
          <p:nvPr/>
        </p:nvSpPr>
        <p:spPr>
          <a:xfrm>
            <a:off x="507976" y="2303080"/>
            <a:ext cx="6756384" cy="62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200" b="1" kern="100" spc="-33" dirty="0">
                <a:solidFill>
                  <a:srgbClr val="1F1B17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The dashboard turns the analysis into a repeatable management 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76" y="3114980"/>
            <a:ext cx="6756384" cy="514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Use the dashboard as a decision surface for category performance, subscription mix, age distribution, shipping preferences, and purchase economics.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7976" y="3807001"/>
            <a:ext cx="6756384" cy="441908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69" y="4010142"/>
            <a:ext cx="6299199" cy="34363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6569" y="7650624"/>
            <a:ext cx="6299199" cy="373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1F1B1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Dashboard view for category performance, customer segments, subscription mix, age distribution, shipping preferences, and purchase economics.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81596" y="9708532"/>
            <a:ext cx="2703831" cy="1904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2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33370" y="9708532"/>
            <a:ext cx="339030" cy="1904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2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08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991247-5DD5-73E2-AEEC-AD4A4F1D8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502" y="9432125"/>
            <a:ext cx="2133898" cy="5811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A08B93-EEE8-6521-D913-8BC9C83C05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76" y="3712282"/>
            <a:ext cx="6756384" cy="37342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76" y="546084"/>
            <a:ext cx="107845" cy="48445"/>
          </a:xfrm>
          <a:prstGeom prst="roundRect">
            <a:avLst>
              <a:gd name="adj" fmla="val 50006"/>
            </a:avLst>
          </a:prstGeom>
          <a:solidFill>
            <a:srgbClr val="C4461A"/>
          </a:solidFill>
          <a:ln/>
        </p:spPr>
      </p:sp>
      <p:sp>
        <p:nvSpPr>
          <p:cNvPr id="3" name="Text 1"/>
          <p:cNvSpPr/>
          <p:nvPr/>
        </p:nvSpPr>
        <p:spPr>
          <a:xfrm>
            <a:off x="507976" y="979310"/>
            <a:ext cx="6756384" cy="62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200" b="1" kern="100" spc="-33" dirty="0">
                <a:solidFill>
                  <a:srgbClr val="1F1B17"/>
                </a:solidFill>
                <a:latin typeface="Bricolage Grotesque Bold" pitchFamily="34" charset="0"/>
                <a:ea typeface="Bricolage Grotesque Bold" pitchFamily="34" charset="-122"/>
                <a:cs typeface="Bricolage Grotesque Bold" pitchFamily="34" charset="-120"/>
              </a:rPr>
              <a:t>Recommended actions: convert loyalty into durable growth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76" y="1791210"/>
            <a:ext cx="6756384" cy="514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The opportunity is to build on proven repeat behavior, protect category economics, and target the pools already showing value.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7976" y="2483231"/>
            <a:ext cx="6756384" cy="1203732"/>
          </a:xfrm>
          <a:custGeom>
            <a:avLst/>
            <a:gdLst/>
            <a:ahLst/>
            <a:cxnLst/>
            <a:rect l="l" t="t" r="r" b="b"/>
            <a:pathLst>
              <a:path w="6756384" h="1203732">
                <a:moveTo>
                  <a:pt x="127000" y="0"/>
                </a:moveTo>
                <a:lnTo>
                  <a:pt x="6629384" y="0"/>
                </a:lnTo>
                <a:arcTo wR="127000" hR="126985" stAng="16200000" swAng="5400000"/>
                <a:lnTo>
                  <a:pt x="6756384" y="1203732"/>
                </a:lnTo>
                <a:lnTo>
                  <a:pt x="0" y="1203732"/>
                </a:lnTo>
                <a:lnTo>
                  <a:pt x="0" y="126985"/>
                </a:lnTo>
                <a:arcTo wR="127000" hR="126985" stAng="10800000" swAng="5400000"/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11142" y="2662276"/>
            <a:ext cx="271161" cy="271129"/>
          </a:xfrm>
          <a:prstGeom prst="ellipse">
            <a:avLst/>
          </a:prstGeom>
          <a:solidFill>
            <a:srgbClr val="C4461A"/>
          </a:solidFill>
          <a:ln w="8096">
            <a:solidFill>
              <a:srgbClr val="DFC2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7316" y="2721662"/>
            <a:ext cx="567433" cy="152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34677" y="2660948"/>
            <a:ext cx="5926518" cy="24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F1B1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Boost subscriptions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34677" y="3052241"/>
            <a:ext cx="5926518" cy="45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Create exclusive benefits for repeat buyers and test offers against the </a:t>
            </a:r>
            <a:r>
              <a:rPr lang="en-US" sz="1200" b="1" dirty="0">
                <a:solidFill>
                  <a:srgbClr val="1F1B17"/>
                </a:solidFill>
                <a:latin typeface="Rethink Sans Bold" pitchFamily="34" charset="0"/>
                <a:ea typeface="Rethink Sans Bold" pitchFamily="34" charset="-122"/>
                <a:cs typeface="Rethink Sans Bold" pitchFamily="34" charset="-120"/>
              </a:rPr>
              <a:t>73% non-subscriber base</a:t>
            </a: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7976" y="3686963"/>
            <a:ext cx="6756384" cy="9752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11142" y="3866008"/>
            <a:ext cx="271161" cy="271129"/>
          </a:xfrm>
          <a:prstGeom prst="ellipse">
            <a:avLst/>
          </a:prstGeom>
          <a:solidFill>
            <a:srgbClr val="C4461A"/>
          </a:solidFill>
          <a:ln w="8096">
            <a:solidFill>
              <a:srgbClr val="DFC2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7316" y="3925394"/>
            <a:ext cx="567433" cy="152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34677" y="3864680"/>
            <a:ext cx="5926518" cy="24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F1B1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Reward loyalty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34677" y="4255973"/>
            <a:ext cx="6129684" cy="228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Use purchase history to move returning customers toward the loyal segment.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7976" y="4662192"/>
            <a:ext cx="6756384" cy="12037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11142" y="4841237"/>
            <a:ext cx="271161" cy="271129"/>
          </a:xfrm>
          <a:prstGeom prst="ellipse">
            <a:avLst/>
          </a:prstGeom>
          <a:solidFill>
            <a:srgbClr val="C4461A"/>
          </a:solidFill>
          <a:ln w="8096">
            <a:solidFill>
              <a:srgbClr val="DFC2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7316" y="4900624"/>
            <a:ext cx="567433" cy="152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4677" y="4839909"/>
            <a:ext cx="5926518" cy="24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F1B1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Rebalance discounts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34677" y="5231203"/>
            <a:ext cx="5926518" cy="45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Protect margin on discount-dependent products while keeping proven demand triggers.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7976" y="5865924"/>
            <a:ext cx="6756384" cy="12037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11142" y="6044969"/>
            <a:ext cx="271161" cy="271129"/>
          </a:xfrm>
          <a:prstGeom prst="ellipse">
            <a:avLst/>
          </a:prstGeom>
          <a:solidFill>
            <a:srgbClr val="C4461A"/>
          </a:solidFill>
          <a:ln w="8096">
            <a:solidFill>
              <a:srgbClr val="DFC2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7316" y="6104356"/>
            <a:ext cx="567433" cy="152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4677" y="6043641"/>
            <a:ext cx="5926518" cy="24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F1B1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Merchandise the winners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34677" y="6434935"/>
            <a:ext cx="5926518" cy="45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Feature top-rated products and the category leaders in campaigns and onsite discovery.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7976" y="7069656"/>
            <a:ext cx="6756384" cy="975230"/>
          </a:xfrm>
          <a:custGeom>
            <a:avLst/>
            <a:gdLst/>
            <a:ahLst/>
            <a:cxnLst/>
            <a:rect l="l" t="t" r="r" b="b"/>
            <a:pathLst>
              <a:path w="6756384" h="975230">
                <a:moveTo>
                  <a:pt x="0" y="0"/>
                </a:moveTo>
                <a:lnTo>
                  <a:pt x="6756384" y="0"/>
                </a:lnTo>
                <a:lnTo>
                  <a:pt x="6756384" y="848245"/>
                </a:lnTo>
                <a:arcTo wR="127000" hR="126985" stAng="0" swAng="5400000"/>
                <a:lnTo>
                  <a:pt x="127000" y="975230"/>
                </a:lnTo>
                <a:arcTo wR="127000" hR="126985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11142" y="7248701"/>
            <a:ext cx="271161" cy="271129"/>
          </a:xfrm>
          <a:prstGeom prst="ellipse">
            <a:avLst/>
          </a:prstGeom>
          <a:solidFill>
            <a:srgbClr val="C4461A"/>
          </a:solidFill>
          <a:ln w="8096">
            <a:solidFill>
              <a:srgbClr val="DFC2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316" y="7308088"/>
            <a:ext cx="567433" cy="152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ethink Sans SemiBold" pitchFamily="34" charset="0"/>
                <a:ea typeface="Rethink Sans SemiBold" pitchFamily="34" charset="-122"/>
                <a:cs typeface="Rethink Sans SemiBold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4677" y="7247373"/>
            <a:ext cx="5926518" cy="24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F1B17"/>
                </a:solidFill>
                <a:latin typeface="Rethink Sans Medium" pitchFamily="34" charset="0"/>
                <a:ea typeface="Rethink Sans Medium" pitchFamily="34" charset="-122"/>
                <a:cs typeface="Rethink Sans Medium" pitchFamily="34" charset="-120"/>
              </a:rPr>
              <a:t>Target by value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134677" y="7638667"/>
            <a:ext cx="6129684" cy="228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Prioritize young-adult revenue pools and customers who select express shipping.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7976" y="3684939"/>
            <a:ext cx="6756384" cy="4048"/>
          </a:xfrm>
          <a:prstGeom prst="rect">
            <a:avLst/>
          </a:prstGeom>
          <a:solidFill>
            <a:srgbClr val="E3DACD"/>
          </a:solidFill>
          <a:ln/>
        </p:spPr>
      </p:sp>
      <p:sp>
        <p:nvSpPr>
          <p:cNvPr id="31" name="Shape 29"/>
          <p:cNvSpPr/>
          <p:nvPr/>
        </p:nvSpPr>
        <p:spPr>
          <a:xfrm>
            <a:off x="507976" y="4660169"/>
            <a:ext cx="6756384" cy="4048"/>
          </a:xfrm>
          <a:prstGeom prst="rect">
            <a:avLst/>
          </a:prstGeom>
          <a:solidFill>
            <a:srgbClr val="E3DACD"/>
          </a:solidFill>
          <a:ln/>
        </p:spPr>
      </p:sp>
      <p:sp>
        <p:nvSpPr>
          <p:cNvPr id="32" name="Shape 30"/>
          <p:cNvSpPr/>
          <p:nvPr/>
        </p:nvSpPr>
        <p:spPr>
          <a:xfrm>
            <a:off x="507976" y="5863900"/>
            <a:ext cx="6756384" cy="4048"/>
          </a:xfrm>
          <a:prstGeom prst="rect">
            <a:avLst/>
          </a:prstGeom>
          <a:solidFill>
            <a:srgbClr val="E3DACD"/>
          </a:solidFill>
          <a:ln/>
        </p:spPr>
      </p:sp>
      <p:sp>
        <p:nvSpPr>
          <p:cNvPr id="33" name="Shape 31"/>
          <p:cNvSpPr/>
          <p:nvPr/>
        </p:nvSpPr>
        <p:spPr>
          <a:xfrm>
            <a:off x="507976" y="7067632"/>
            <a:ext cx="6756384" cy="4048"/>
          </a:xfrm>
          <a:prstGeom prst="rect">
            <a:avLst/>
          </a:prstGeom>
          <a:solidFill>
            <a:srgbClr val="E3DACD"/>
          </a:solidFill>
          <a:ln/>
        </p:spPr>
      </p:sp>
      <p:sp>
        <p:nvSpPr>
          <p:cNvPr id="34" name="Text 32"/>
          <p:cNvSpPr/>
          <p:nvPr/>
        </p:nvSpPr>
        <p:spPr>
          <a:xfrm>
            <a:off x="181596" y="9708532"/>
            <a:ext cx="2703831" cy="1904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2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Customer Shopping Behavior Analysis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33370" y="9708532"/>
            <a:ext cx="339030" cy="1904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100" spc="20" dirty="0">
                <a:solidFill>
                  <a:srgbClr val="1F1B17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09</a:t>
            </a:r>
            <a:endParaRPr lang="en-US" sz="1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474274F-8B11-44EE-969A-227BB77C8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502" y="9432125"/>
            <a:ext cx="2133898" cy="5811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764</Words>
  <Application>Microsoft Office PowerPoint</Application>
  <PresentationFormat>Custom</PresentationFormat>
  <Paragraphs>110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Rethink Sans</vt:lpstr>
      <vt:lpstr>Rethink Sans SemiBold</vt:lpstr>
      <vt:lpstr>Rethink Sans Bold</vt:lpstr>
      <vt:lpstr>Arial</vt:lpstr>
      <vt:lpstr>Rethink Sans Medium</vt:lpstr>
      <vt:lpstr>Bricolage Grotesque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Shaikh Mubashshir</dc:creator>
  <cp:lastModifiedBy>shaikh mubashshir</cp:lastModifiedBy>
  <cp:revision>2</cp:revision>
  <dcterms:created xsi:type="dcterms:W3CDTF">2026-10-14T17:00:22Z</dcterms:created>
  <dcterms:modified xsi:type="dcterms:W3CDTF">2026-10-15T07:53:36Z</dcterms:modified>
</cp:coreProperties>
</file>